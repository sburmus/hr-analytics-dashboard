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8CFF"/>
              </a:solidFill>
              <a:effectLst/>
            </c:spPr>
          </c:dPt>
          <c:dPt>
            <c:idx val="1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Базова зарплата</c:v>
                </c:pt>
                <c:pt idx="1">
                  <c:v>Бонуси</c:v>
                </c:pt>
                <c:pt idx="2">
                  <c:v>Пільги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18</c:v>
                </c:pt>
                <c:pt idx="2">
                  <c:v>20</c:v>
                </c:pt>
              </c:numCache>
            </c:numRef>
          </c:val>
        </c:ser>
        <c:firstSliceAng val="0"/>
        <c:holeSize val="50"/>
      </c:doughnutChart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AA5C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Середня база, грн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4F7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IT</c:v>
                  </c:pt>
                  <c:pt idx="1">
                    <c:v>Продажі</c:v>
                  </c:pt>
                  <c:pt idx="2">
                    <c:v>Маркетинг</c:v>
                  </c:pt>
                  <c:pt idx="3">
                    <c:v>HR</c:v>
                  </c:pt>
                  <c:pt idx="4">
                    <c:v>Фінанси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38500</c:v>
                </c:pt>
                <c:pt idx="1">
                  <c:v>27200</c:v>
                </c:pt>
                <c:pt idx="2">
                  <c:v>25800</c:v>
                </c:pt>
                <c:pt idx="3">
                  <c:v>22400</c:v>
                </c:pt>
                <c:pt idx="4">
                  <c:v>31200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4F7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2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Витрати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4F8C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Медстрахування</c:v>
                </c:pt>
                <c:pt idx="1">
                  <c:v>Спорт</c:v>
                </c:pt>
                <c:pt idx="2">
                  <c:v>Remote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Середня зарплата, грн</c:v>
                </c:pt>
              </c:strCache>
            </c:strRef>
          </c:tx>
          <c:spPr>
            <a:solidFill>
              <a:srgbClr val="A855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7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CF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Жінка</c:v>
                  </c:pt>
                  <c:pt idx="1">
                    <c:v>Чоловік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27800</c:v>
                </c:pt>
                <c:pt idx="1">
                  <c:v>29500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7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2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Зарплата, грн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7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Внутрішня</c:v>
                  </c:pt>
                  <c:pt idx="1">
                    <c:v>Work.ua</c:v>
                  </c:pt>
                  <c:pt idx="2">
                    <c:v>Служба зайнятості</c:v>
                  </c:pt>
                  <c:pt idx="3">
                    <c:v>Jooble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45000</c:v>
                </c:pt>
                <c:pt idx="1">
                  <c:v>42000</c:v>
                </c:pt>
                <c:pt idx="2">
                  <c:v>39500</c:v>
                </c:pt>
                <c:pt idx="3">
                  <c:v>47000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4F7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2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Вітання комісії. Це HR Analytics Dashboard — навчальний проект на Streamlit для аналізу компенсацій та пільг співробітників. Сьогодні покажу архітектуру, дані та ключові розділи дашборду, включно з аналізом реального ринку праці на основі парсингу трьох джерел.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Дашборд вирішує практичну задачу HR-аналітики: швидкий доступ до KPI компенсацій, гендерної рівності та ринкової конкурентоспроможності.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обрано під задачу швидкої аналітичної веб-розробки: Streamlit для UI, Pandas для даних, Plotly для інтерактивних графіків.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Кожен рядок даних — це співробітник з повним набором атрибутів. Повний пакет розраховується автоматично з ваги кожної пільги.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Навігація реалізована через бокове меню. Кожен розділ — окрема функція/сторінка з власним набором візуалізацій та фільтрами.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Hero-блок одразу показує загальний бюджет і структуру виплат — base/bonus/benefits — у вигляді кольорової шкали.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Розділ показує не лише суми, а й структуру витрат на пільги — корисно для перегляду бенефіт-політики компанії.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Гендерний розрив рахується автоматично у відсотках і супроводжується кольоровим висновком — зелений/жовтий/червоний.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ключова відмінність проекту — не симульовані, а реально спарсені ринкові дані з трьох незалежних джерел. Користувач сам обирає джерело порівняння через перемикач, а дашборд показує індекс конкурентоспроможності та відхилення у відсотках.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Підсумок: проект демонструє повний цикл HR-аналітики — від сирих даних до інтерактивних висновків, з реальною інтеграцією ринку праці.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Завершення — переходимо до питань комісії.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6213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621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 Dashboard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&amp; Benefits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Інтерактивна платформа для аналізу зарплат, бонусів, пільг та конкурентоспроможності оплати праці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806440"/>
            <a:ext cx="502920" cy="502920"/>
          </a:xfrm>
          <a:prstGeom prst="ellipse">
            <a:avLst/>
          </a:prstGeom>
          <a:solidFill>
            <a:srgbClr val="1621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9" y="5876849"/>
            <a:ext cx="362102" cy="362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355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737360" y="5806440"/>
            <a:ext cx="502920" cy="502920"/>
          </a:xfrm>
          <a:prstGeom prst="ellipse">
            <a:avLst/>
          </a:prstGeom>
          <a:solidFill>
            <a:srgbClr val="1621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769" y="5876849"/>
            <a:ext cx="362102" cy="3621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6355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926080" y="5806440"/>
            <a:ext cx="502920" cy="502920"/>
          </a:xfrm>
          <a:prstGeom prst="ellipse">
            <a:avLst/>
          </a:prstGeom>
          <a:solidFill>
            <a:srgbClr val="16213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489" y="5876849"/>
            <a:ext cx="362102" cy="3621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97480" y="6355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114800" y="5806440"/>
            <a:ext cx="502920" cy="502920"/>
          </a:xfrm>
          <a:prstGeom prst="ellipse">
            <a:avLst/>
          </a:prstGeom>
          <a:solidFill>
            <a:srgbClr val="16213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5209" y="5876849"/>
            <a:ext cx="362102" cy="36210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6200" y="63550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ПРОЕКТУ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Навіщо цей дашборд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12648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Об'єднати дані про зарплати, бонуси та пільги в одному інтерактивному інструменті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Дати HR-фахівцям оперативний огляд бюджету компенсацій без ручних Excel-звітів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Оцінити гендерну рівність оплати праці на основі реальних даних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Порівняти внутрішні зарплати з ринком за трьома незалежними джерелами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1691640"/>
            <a:ext cx="4572000" cy="1325880"/>
          </a:xfrm>
          <a:prstGeom prst="roundRect">
            <a:avLst>
              <a:gd name="adj" fmla="val 620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23760" y="18013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778240" y="169164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розділів аналітики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3246120"/>
            <a:ext cx="4572000" cy="1325880"/>
          </a:xfrm>
          <a:prstGeom prst="roundRect">
            <a:avLst>
              <a:gd name="adj" fmla="val 620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335584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778240" y="324612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джерела ринкових даних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40880" y="4800600"/>
            <a:ext cx="4572000" cy="1325880"/>
          </a:xfrm>
          <a:prstGeom prst="roundRect">
            <a:avLst>
              <a:gd name="adj" fmla="val 620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49103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778240" y="48006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інтерактивних графіків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Технологічний стек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1863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84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 логіка та обробка даних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103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0" y="21863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84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Веб-інтерфейс та multipage-навігація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50" y="21863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084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Агрегація, фільтрація, розрахунки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" y="447233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370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Інтерактивні графіки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9768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389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210" y="447233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370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/ Seaborn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7200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Теплові карти та статичні візуалізації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4672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389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250" y="4472330"/>
            <a:ext cx="427939" cy="42793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370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/ JSON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2104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Зберігання даних компенсацій та ринку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ПРОЕКТУ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даних співробітника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department, Role / Role_ua — ідентифікація та посада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base_salary, bonus — базова зарплата та бонус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health_insurance, sport, remote_allowance — прапорці пільг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performance_score — гендер та оцінка продуктивності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total_compensation — розрахований повний пакет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56235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total_compensation = base_salary + bonus + Σ(пільга × вартість)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0" y="1691640"/>
            <a:ext cx="4754880" cy="4343400"/>
          </a:xfrm>
          <a:prstGeom prst="roundRect">
            <a:avLst>
              <a:gd name="adj" fmla="val 1895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компенсаційного пакету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40880" y="224028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Шість розділів дашборду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1863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Головна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компанії та структура відділів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103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0" y="21863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Ключові показники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Бюджет, KPI, охоплення пільгами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50" y="21863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Бонуси та компенсації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2788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Бонусні програми та пільги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" y="447233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370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Гендерна аналітика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Рівність оплати праці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389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210" y="447233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370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Рейтинг співробітників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за повним пакетом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389120"/>
            <a:ext cx="594360" cy="5943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250" y="4472330"/>
            <a:ext cx="427939" cy="42793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370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Аналіз ринку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21040" y="50749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 трьома джерелами ринку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Ключові показники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Hero-блок із загальним бюджетом компенсацій та структурою виплат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KPI-карток: середня/медіанна/мін./макс. база, std., коефіцієнт варіації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Індикатори охоплення кожною пільгою (медстрахування, спорт, remote)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Експорт відфільтрованих даних у CSV та Excel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0" y="1691640"/>
            <a:ext cx="5669280" cy="4480560"/>
          </a:xfrm>
          <a:prstGeom prst="roundRect">
            <a:avLst>
              <a:gd name="adj" fmla="val 183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база по відділах (приклад)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126480" y="22860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Бонуси, компенсації та пільги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вкладки: Бонуси · Компенсації по відділах · Пільги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Stacked-графік структури компенсаційного пакету по відділах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 бонусу з базовою зарплатою та відділом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 компанії на кожну пільгу та охоплення у %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0" y="1691640"/>
            <a:ext cx="566928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Охоплення пільгами (приклад)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0" y="228600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Гендерна аналітика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Середня, медіанна зарплата та KPI гендерного розриву у %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Violin-графік розподілу зарплат за гендером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Зв'язок зарплати, бонусу та performance score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Автоматичний висновок: мінімальний / помітний / значний розрив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0" y="1691640"/>
            <a:ext cx="5669280" cy="4480560"/>
          </a:xfrm>
          <a:prstGeom prst="roundRect">
            <a:avLst>
              <a:gd name="adj" fmla="val 1837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зарплата за гендером (приклад)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675120" y="237744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 4 · КЛЮЧОВА ФІЧА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Аналіз ринку: 3 реальних джерела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19970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38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Work.ua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578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вакансій та зарплатних вилок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920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242" y="19970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938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Служба зайнятості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578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Офіційні дані ринку праці України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9202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002" y="19970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938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Jooble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578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Агрегатор вакансій з усієй країни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Внутрішня зарплата vs ринок (приклад: HR-менеджер)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22960" y="4343400"/>
          <a:ext cx="105156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Результати та перспективи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реалізовано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інтерактивних розділів аналітики компенсацій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Автоматичний розрахунок повного пакету винагороди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Гендерний аналіз з кількісною оцінкою розриву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реальних ринкових даних з 3 джерел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Перспективи розвитку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Автоматичне регулярне оновлення ринкових даних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Прогнозування зарплат на основі ML-моделі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Експорт повних звітів у PDF для керівництва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Підключення реальної бази даних замість CSV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16213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645920"/>
            <a:ext cx="3657600" cy="3657600"/>
          </a:xfrm>
          <a:prstGeom prst="ellipse">
            <a:avLst/>
          </a:prstGeom>
          <a:solidFill>
            <a:srgbClr val="16213A"/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554480"/>
            <a:ext cx="1280160" cy="12801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9902" y="1733702"/>
            <a:ext cx="921715" cy="9217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Compensation &amp; Benefits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 — Compensation &amp; Benefits</dc:title>
  <dc:subject>PptxGenJS Presentation</dc:subject>
  <dc:creator>HR Analytics Dashboard</dc:creator>
  <cp:lastModifiedBy>HR Analytics Dashboard</cp:lastModifiedBy>
  <cp:revision>1</cp:revision>
  <dcterms:created xsi:type="dcterms:W3CDTF">2026-06-20T05:13:47Z</dcterms:created>
  <dcterms:modified xsi:type="dcterms:W3CDTF">2026-06-20T05:13:47Z</dcterms:modified>
</cp:coreProperties>
</file>